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image" Target="../media/image29.png"/><Relationship Id="rId11" Type="http://schemas.openxmlformats.org/officeDocument/2006/relationships/image" Target="../media/image30.png"/><Relationship Id="rId12" Type="http://schemas.openxmlformats.org/officeDocument/2006/relationships/image" Target="../media/image31.png"/><Relationship Id="rId13" Type="http://schemas.openxmlformats.org/officeDocument/2006/relationships/image" Target="../media/image2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2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45.png"/><Relationship Id="rId5" Type="http://schemas.openxmlformats.org/officeDocument/2006/relationships/image" Target="../media/image2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Relationship Id="rId4" Type="http://schemas.openxmlformats.org/officeDocument/2006/relationships/image" Target="../media/image2.png"/><Relationship Id="rId5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2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2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458938"/>
            <a:ext cx="10001250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0" sz="4200" i="0" u="none">
                <a:solidFill>
                  <a:srgbClr val="0F172A"/>
                </a:solidFill>
                <a:latin typeface="Plus Jakarta Sans ExtraBold"/>
              </a:rPr>
              <a:t>RAG-Based Medical Information System for </a:t>
            </a:r>
            <a:r>
              <a:rPr b="0" sz="4200" i="0" u="none">
                <a:solidFill>
                  <a:srgbClr val="0284C7"/>
                </a:solidFill>
                <a:latin typeface="Plus Jakarta Sans ExtraBold"/>
              </a:rPr>
              <a:t>Warangal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22799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Grounding patient-facing medical answers in verified, localized clinical knowledge — bypassing generic model hallucinations.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6181725"/>
            <a:ext cx="46101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64748B"/>
                </a:solidFill>
                <a:latin typeface="Inter"/>
              </a:rPr>
              <a:t>Presented by:</a:t>
            </a:r>
            <a:r>
              <a:rPr b="0" sz="1050" i="0" u="none">
                <a:solidFill>
                  <a:srgbClr val="64748B"/>
                </a:solidFill>
                <a:latin typeface="Inter Medium"/>
              </a:rPr>
              <a:t> B. Sai Tejaswi (2303A51184) &amp; V. Abhilash (2303A51227)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4375" y="6181725"/>
            <a:ext cx="32861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Department of Computer Science &amp; Engineering (AI)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68400"/>
            <a:ext cx="3814762" cy="3000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2054125"/>
            <a:ext cx="157162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76525"/>
            <a:ext cx="3524250" cy="21859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676525"/>
            <a:ext cx="3524250" cy="21859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676525"/>
            <a:ext cx="3524250" cy="21859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2205037" cy="3000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Regional Healthcare Context in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Warangal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181725"/>
            <a:ext cx="60293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Scope: Hanamkonda, Kazipet, Parkal, Geesugonda, Hasanparthy, Wardhannapet, Dharmasagar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34700" y="6181725"/>
            <a:ext cx="685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2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971800"/>
            <a:ext cx="2780347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Information Asymmetry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352800"/>
            <a:ext cx="2933700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Patients across primary facilities struggle with symptom interpretation, disease course understanding, and knowing when home care suffices versus seeking immediate care.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2525" y="2971800"/>
            <a:ext cx="273034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Language Barriers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3352800"/>
            <a:ext cx="2933700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High demand exists for medical guidance in native Telugu, English, and bilingual code-switched queries which standard generic chatbots fail to handle accurately.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4900" y="2971800"/>
            <a:ext cx="273034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Tertiary Overcrowding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352800"/>
            <a:ext cx="2933700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Overburdened facilities like MGM Hospital and District Hospital Warangal experience traffic for self-limiting conditions due to a lack of trustworthy local guidance.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2995612"/>
            <a:ext cx="19050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9150" y="2995612"/>
            <a:ext cx="2381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91525" y="2995612"/>
            <a:ext cx="23812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12243"/>
            <a:ext cx="5334000" cy="2114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12243"/>
            <a:ext cx="5334000" cy="2114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1123950" cy="3000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Formal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181725"/>
            <a:ext cx="32956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Retrieval-Augmented Generation (RAG)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4700" y="6181725"/>
            <a:ext cx="685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3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007518"/>
            <a:ext cx="46805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388518"/>
            <a:ext cx="47434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Deliver localized, multilingual (Telugu/English) medical information to patients in Warangal District while completely mitigating LLM hallucinations and enforcing emergency safety guardrails for red-flag symptoms.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525" y="3007518"/>
            <a:ext cx="46805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Why Standard LLMs Fail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031331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031331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0375" y="3388518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Rely solely on ungrounded internal parametric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3731418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Cite zero verified medical sources or local facility tiers.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4074318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Cannot distinguish between standard symptoms and life-threatening red flags.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33885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7314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40743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3643"/>
            <a:ext cx="5334000" cy="2571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83643"/>
            <a:ext cx="5334000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1843087" cy="3000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Current Limitations &amp;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Research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181725"/>
            <a:ext cx="20383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SR University · Dept. of CSE (AI)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4700" y="6181725"/>
            <a:ext cx="685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4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778918"/>
            <a:ext cx="46805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Current 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525" y="2778918"/>
            <a:ext cx="46805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Identified Research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159918"/>
            <a:ext cx="4743450" cy="1214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1" u="none">
                <a:solidFill>
                  <a:srgbClr val="334155"/>
                </a:solidFill>
                <a:latin typeface="Inter"/>
              </a:rPr>
              <a:t>"There is a lack of a retrieval-grounded medical information system for a specific regional population that answers natural-language patient queries using verified local knowledge records, cites its sources, and reliably escalates red-flag symptoms."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802731"/>
            <a:ext cx="19050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5375" y="3159918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General LLM chatbots fabricate clinical data with zero source attribution.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3731418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Static FAQ portals fail to parse free-form, conversational patient symptom descriptions.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375" y="4302918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Basic keyword search misses paraphrased clinical expressions and colloquialisms.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2802731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6775" y="31599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37314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43029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59906"/>
            <a:ext cx="1897409" cy="1419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9434" y="3059906"/>
            <a:ext cx="1897409" cy="1419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369" y="3152775"/>
            <a:ext cx="1897409" cy="12334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5304" y="3059906"/>
            <a:ext cx="1897409" cy="1419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3239" y="3059906"/>
            <a:ext cx="1897409" cy="14192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6780" y="3259931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4715" y="3259931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2650" y="3352800"/>
            <a:ext cx="266700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0584" y="3259931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38519" y="3259931"/>
            <a:ext cx="26670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476250"/>
            <a:ext cx="2381250" cy="3000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Proposed Solution &amp;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RAG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6181725"/>
            <a:ext cx="6905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Constraint: The LLM never answers from memory alone — composition is strictly bound to retrieved records.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44225" y="6181725"/>
            <a:ext cx="676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5 /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4084" y="3650456"/>
            <a:ext cx="167224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0F172A"/>
                </a:solidFill>
                <a:latin typeface="Plus Jakarta Sans SemiBold"/>
              </a:rPr>
              <a:t>Query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3907631"/>
            <a:ext cx="159260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English / Telugu Natural Language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11784" y="3688556"/>
            <a:ext cx="104775" cy="171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972019" y="3650456"/>
            <a:ext cx="167224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0F172A"/>
                </a:solidFill>
                <a:latin typeface="Plus Jakarta Sans SemiBold"/>
              </a:rPr>
              <a:t>Preprocessing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1834" y="3907631"/>
            <a:ext cx="159260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Language &amp; Token Handling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99719" y="3688556"/>
            <a:ext cx="104775" cy="1714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59954" y="3743325"/>
            <a:ext cx="167224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0F172A"/>
                </a:solidFill>
                <a:latin typeface="Plus Jakarta Sans SemiBold"/>
              </a:rPr>
              <a:t>Vector Retrieval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9769" y="4000500"/>
            <a:ext cx="1592609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Top-k Knowledge Chunks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87654" y="3688556"/>
            <a:ext cx="10477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547889" y="3650456"/>
            <a:ext cx="167224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0F172A"/>
                </a:solidFill>
                <a:latin typeface="Plus Jakarta Sans SemiBold"/>
              </a:rPr>
              <a:t>Priority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7704" y="3907631"/>
            <a:ext cx="159260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Context Verification Weighting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75589" y="3688556"/>
            <a:ext cx="104775" cy="17145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835823" y="3650456"/>
            <a:ext cx="167224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0F172A"/>
                </a:solidFill>
                <a:latin typeface="Plus Jakarta Sans SemiBold"/>
              </a:rPr>
              <a:t>Grounded Gen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639" y="3907631"/>
            <a:ext cx="1592609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Constrained LLM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19412"/>
            <a:ext cx="3524250" cy="1700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919412"/>
            <a:ext cx="3524250" cy="1700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919412"/>
            <a:ext cx="3524250" cy="1700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1095375" cy="3000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Project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181725"/>
            <a:ext cx="1524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SR University, Warangal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34700" y="6181725"/>
            <a:ext cx="685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6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75" y="3214687"/>
            <a:ext cx="2800350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Verified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595687"/>
            <a:ext cx="29337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Build care pathways, FAQs, and clinical summaries tailored precisely to the Warangal healthcare context.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3214687"/>
            <a:ext cx="2780347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Grounded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3595687"/>
            <a:ext cx="29337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Ensure responses are composed exclusively from retrieved context with explicit source citations.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77275" y="3214687"/>
            <a:ext cx="2780347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Safety &amp; Bilingual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595687"/>
            <a:ext cx="29337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Detect red-flag symptoms for urgent escalation while supporting seamless Telugu and English interaction.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238500"/>
            <a:ext cx="17145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3238500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3238500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55218"/>
            <a:ext cx="11049000" cy="1457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26493"/>
            <a:ext cx="2619375" cy="990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375" y="2426493"/>
            <a:ext cx="2619375" cy="990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26493"/>
            <a:ext cx="2619375" cy="990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426493"/>
            <a:ext cx="2619375" cy="990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76250"/>
            <a:ext cx="1485900" cy="3000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Dataset Overview: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RAG_Warangal_Medical_Dataset.csv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181725"/>
            <a:ext cx="53816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Balanced across Clinical Guidelines, FAQs, Patient Education, and Facility Protocols.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44225" y="6181725"/>
            <a:ext cx="6762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7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950493"/>
            <a:ext cx="1073134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Sample Retrievable Record 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331493"/>
            <a:ext cx="104584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Asthma – Care pathway | Warangal: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Condition: Asthma | Dept: Pulmonology | Symptoms: wheezing, cough, breathlessness | Care advice: avoid triggers, use inhaler | Priority: High | Verified | Red flag: seek urgent care for fainting or severe distress.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2626518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12,000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3055143"/>
            <a:ext cx="2190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 Medium"/>
              </a:rPr>
              <a:t>Synthetic Records (50 cols)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9975" y="2626518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11,236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9975" y="3055143"/>
            <a:ext cx="2190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 Medium"/>
              </a:rPr>
              <a:t>Unique Knowledge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850" y="2626518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8,146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850" y="3055143"/>
            <a:ext cx="2190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 Medium"/>
              </a:rPr>
              <a:t>High-Priority Chunks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9725" y="2626518"/>
            <a:ext cx="2190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284C7"/>
                </a:solidFill>
                <a:latin typeface="Plus Jakarta Sans"/>
              </a:rPr>
              <a:t>5,809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9725" y="3055143"/>
            <a:ext cx="21907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 Medium"/>
              </a:rPr>
              <a:t>Clinically Verified Entries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3974306"/>
            <a:ext cx="1428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3643"/>
            <a:ext cx="5334000" cy="2571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83643"/>
            <a:ext cx="5334000" cy="2571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1509712" cy="3000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Candidate Models &amp;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Pipeline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181725"/>
            <a:ext cx="282892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Optimized for low-latency clinical inference.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4700" y="6181725"/>
            <a:ext cx="685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8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2778918"/>
            <a:ext cx="46805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Embedding &amp;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2778918"/>
            <a:ext cx="465058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Generation &amp; Safety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802731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5375" y="3159918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Chunking &amp; Embedding: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Sentence-Transformers, PubMedBERT, LaBSE (multilingual).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3731418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Vector Indexing: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FAISS &amp; Chroma for fast approximate nearest-neighbor search.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5375" y="4302918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Hybrid Retrieval: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Combining dense semantic matching with BM25 keyword search.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2802731"/>
            <a:ext cx="219075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10375" y="3159918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Grounded LLM: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Instruction-tuned generator with strict context constraints.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0375" y="3731418"/>
            <a:ext cx="45148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Safety Layer: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Rule-based red-flag matching cross-checked prior to rendering response.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0375" y="4302918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Evaluation: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Empirical retrieval-quality validation loop.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31599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37314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43029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1775" y="31599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37314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4302918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19412"/>
            <a:ext cx="3524250" cy="1700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919412"/>
            <a:ext cx="3524250" cy="1700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2919412"/>
            <a:ext cx="3524250" cy="1700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76250"/>
            <a:ext cx="1338262" cy="3000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Three-Tier System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181725"/>
            <a:ext cx="3048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Modular pipeline ensuring absolute auditability.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34700" y="6181725"/>
            <a:ext cx="685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9 /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214687"/>
            <a:ext cx="30803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Tier 1: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3595687"/>
            <a:ext cx="29337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Document Parser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➔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Chunking &amp; Embedding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➔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Vector Indexing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for structured document storage.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9150" y="3214687"/>
            <a:ext cx="30803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Tier 2: Retrieval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3595687"/>
            <a:ext cx="29337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Query Encoder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➔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Hybrid Retriever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(Dense + BM25) ➔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Context Ranker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for top matches.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214687"/>
            <a:ext cx="30803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Tier 3: Safety &amp; 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1525" y="3595687"/>
            <a:ext cx="2933700" cy="728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Grounded LLM Generator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➔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Red-Flag Checker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➔ </a:t>
            </a:r>
            <a:r>
              <a:rPr b="1" sz="1275" i="0" u="none">
                <a:solidFill>
                  <a:srgbClr val="334155"/>
                </a:solidFill>
                <a:latin typeface="Inter"/>
              </a:rPr>
              <a:t>Cited Patient Response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delivery.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8893"/>
            <a:ext cx="5381625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78893"/>
            <a:ext cx="5381625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169443"/>
            <a:ext cx="4886325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525" y="3169443"/>
            <a:ext cx="4886325" cy="666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76250"/>
            <a:ext cx="1100137" cy="3000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Illustrative Working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6181725"/>
            <a:ext cx="386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Verifiable, grounded, and safety-guarded patient interaction.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77550" y="6181725"/>
            <a:ext cx="7429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10 /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2826543"/>
            <a:ext cx="5130641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Patient Query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3798093"/>
            <a:ext cx="4886325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64748B"/>
                </a:solidFill>
                <a:latin typeface="Inter"/>
              </a:rPr>
              <a:t>Retrieved Source: Asthma – Care pathway | Warangal (Verified, High Priority)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2826543"/>
            <a:ext cx="5130641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Generated System Output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0" y="4279106"/>
            <a:ext cx="133350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96100" y="4102893"/>
            <a:ext cx="4324350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Red Flag Notice: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Seek urgent care immediately if you experience severe breathing difficulty or fainting.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97968"/>
            <a:ext cx="5334000" cy="1943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97968"/>
            <a:ext cx="5334000" cy="1943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981700"/>
            <a:ext cx="11049000" cy="400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76250"/>
            <a:ext cx="2328862" cy="3000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871537"/>
            <a:ext cx="116014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Building Trust in </a:t>
            </a:r>
            <a:r>
              <a:rPr b="1" sz="2850" i="0" u="none">
                <a:solidFill>
                  <a:srgbClr val="0284C7"/>
                </a:solidFill>
                <a:latin typeface="Plus Jakarta Sans"/>
              </a:rPr>
              <a:t>Patient-Facing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6181725"/>
            <a:ext cx="29241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Thank You — Questions &amp; Feedback Welcome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6125" y="6181725"/>
            <a:ext cx="714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 Medium"/>
              </a:rPr>
              <a:t>Slide 11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093243"/>
            <a:ext cx="4680585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Project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474243"/>
            <a:ext cx="4743450" cy="971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Retrieval-augmented generation enables medical information systems to answer natural-language queries while remaining anchored to verified local knowledge — mitigating hallucinations without sacrificing accessibility.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3093243"/>
            <a:ext cx="4650581" cy="238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Plus Jakarta Sans SemiBold"/>
              </a:rPr>
              <a:t>Future Roadmap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117056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1775" y="3117056"/>
            <a:ext cx="21907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0375" y="3474243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Real Clinician-Reviewed Corpus integration.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0375" y="3817143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Voice / Bilingual Interface in Telugu &amp; English.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0375" y="4160043"/>
            <a:ext cx="45148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Feedback-driven priority ranking &amp; Teleconsultation handoff.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1775" y="3474243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1775" y="3817143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1775" y="4160043"/>
            <a:ext cx="66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b="0" sz="1500" i="0" u="none">
                <a:solidFill>
                  <a:srgbClr val="0284C7"/>
                </a:solidFill>
                <a:latin typeface="Inter"/>
              </a:rPr>
              <a:t>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